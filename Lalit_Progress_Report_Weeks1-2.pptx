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2294A"/>
                </a:solidFill>
              </a:rPr>
              <a:t>AUC by Model and Test Condition (ALL seen manipulations)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HGB (clean-trained)</c:v>
                </c:pt>
              </c:strCache>
            </c:strRef>
          </c:tx>
          <c:spPr>
            <a:solidFill>
              <a:srgbClr val="12294A"/>
            </a:solidFill>
          </c:spPr>
          <c:cat>
            <c:strRef>
              <c:f>Sheet1!$A$2:$A$4</c:f>
              <c:strCache>
                <c:ptCount val="3"/>
                <c:pt idx="0">
                  <c:v>Clean</c:v>
                </c:pt>
                <c:pt idx="1">
                  <c:v>Recapture-Seen</c:v>
                </c:pt>
                <c:pt idx="2">
                  <c:v>Recapture-Unseen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0.765</c:v>
                </c:pt>
                <c:pt idx="1">
                  <c:v>0.478</c:v>
                </c:pt>
                <c:pt idx="2">
                  <c:v>0.506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HGB+Aug</c:v>
                </c:pt>
              </c:strCache>
            </c:strRef>
          </c:tx>
          <c:spPr>
            <a:solidFill>
              <a:srgbClr val="1A73E8"/>
            </a:solidFill>
          </c:spPr>
          <c:cat>
            <c:strRef>
              <c:f>Sheet1!$A$2:$A$4</c:f>
              <c:strCache>
                <c:ptCount val="3"/>
                <c:pt idx="0">
                  <c:v>Clean</c:v>
                </c:pt>
                <c:pt idx="1">
                  <c:v>Recapture-Seen</c:v>
                </c:pt>
                <c:pt idx="2">
                  <c:v>Recapture-Unseen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0.756</c:v>
                </c:pt>
                <c:pt idx="1">
                  <c:v>0.538</c:v>
                </c:pt>
                <c:pt idx="2">
                  <c:v>0.573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Two-Stage Pipeline</c:v>
                </c:pt>
              </c:strCache>
            </c:strRef>
          </c:tx>
          <c:spPr>
            <a:solidFill>
              <a:srgbClr val="34A853"/>
            </a:solidFill>
          </c:spPr>
          <c:cat>
            <c:strRef>
              <c:f>Sheet1!$A$2:$A$4</c:f>
              <c:strCache>
                <c:ptCount val="3"/>
                <c:pt idx="0">
                  <c:v>Clean</c:v>
                </c:pt>
                <c:pt idx="1">
                  <c:v>Recapture-Seen</c:v>
                </c:pt>
                <c:pt idx="2">
                  <c:v>Recapture-Unseen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0.765</c:v>
                </c:pt>
                <c:pt idx="1">
                  <c:v>0.546</c:v>
                </c:pt>
                <c:pt idx="2">
                  <c:v>0.569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CNN EffNet-B0 (clean)</c:v>
                </c:pt>
              </c:strCache>
            </c:strRef>
          </c:tx>
          <c:spPr>
            <a:solidFill>
              <a:srgbClr val="FBBC04"/>
            </a:solidFill>
          </c:spPr>
          <c:cat>
            <c:strRef>
              <c:f>Sheet1!$A$2:$A$4</c:f>
              <c:strCache>
                <c:ptCount val="3"/>
                <c:pt idx="0">
                  <c:v>Clean</c:v>
                </c:pt>
                <c:pt idx="1">
                  <c:v>Recapture-Seen</c:v>
                </c:pt>
                <c:pt idx="2">
                  <c:v>Recapture-Unseen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0.842</c:v>
                </c:pt>
                <c:pt idx="1">
                  <c:v>0.496</c:v>
                </c:pt>
                <c:pt idx="2">
                  <c:v>0.524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CNN EffNet-B0 + Aug</c:v>
                </c:pt>
              </c:strCache>
            </c:strRef>
          </c:tx>
          <c:spPr>
            <a:solidFill>
              <a:srgbClr val="EA4335"/>
            </a:solidFill>
          </c:spPr>
          <c:cat>
            <c:strRef>
              <c:f>Sheet1!$A$2:$A$4</c:f>
              <c:strCache>
                <c:ptCount val="3"/>
                <c:pt idx="0">
                  <c:v>Clean</c:v>
                </c:pt>
                <c:pt idx="1">
                  <c:v>Recapture-Seen</c:v>
                </c:pt>
                <c:pt idx="2">
                  <c:v>Recapture-Unseen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0.836</c:v>
                </c:pt>
                <c:pt idx="1">
                  <c:v>0.575</c:v>
                </c:pt>
                <c:pt idx="2">
                  <c:v>0.525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/>
                  <a:t>AUC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0.1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Presenter: Lalit. This report covers Weeks 1–2 of the capstone. The project investigates detection of face-swap and reenactment deepfakes that are physically displayed on a screen and recaptured by an attendance camera — a threat model not well-addressed by existing detectors.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motivation: attendance systems using face recognition can be attacked by simply holding up a deepfake video on a smartphone. The recapture process (screen → camera) stacks moiré, banding, gamma shift, and JPEG re-compression on top of the existing forgery artifacts, potentially drowning them out. This slide defines my individual scope — face-swap and reenactment — and states the testable hypothesis that drives the experimental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papers form the literature backbone. FaceForensics++ provides the benchmark covering all four attack types I study. Face X-Ray, F3-Net, and LipForensics each motivate one of my three feature groups (B, F, T). Self-Blended Images points toward the augmentation direction I plan to extend. The 'Through the Lens' NeurIPS 2025 paper is the closest prior work to my problem setting and independently validates that AUC collapses under real recapture.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pipeline has six stages: data download from Kaggle (FF++ c23 compression), face-cropped clip extraction (8 frames, 224px, 2 clips per video), a screen-replay simulator, hand-crafted feature extraction across three groups, two model families, and AUC/EER/HTER evaluation. The dataset table shows FaceShifter is test-only — it serves as an unseen-manipulation generalization probe. The subset size (60/15/30 video pairs) is driven by Colab compute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simulator produces two recapture conditions: 'seen' (matching training augmentation parameters) and 'unseen' (different screens, cameras, and JPEG quality). Figure 1 shows that the moiré grid is visually prominent. Figure 2 shows the frequency-domain signature: bright periodic peaks and elevated high-frequency energy that did not exist in the clean frame. This is why frequency-based forgery cues get overwritten and the hypothesis 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clustered bar chart shows AUC for five models across three test conditions. The most striking result is the near-total collapse to chance (AUC ≈ 0.5) under recapture, confirming the hypothesis. Recapture-augmented training recovers some performance but not fully. The CNN is stronger on clean video; the hand-crafted HGB model generalises better to unseen recapture settings. Differences between the two-stage pipeline and HGB-aug are small and should not be over-interpreted given the limited sample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4 shows the feature-group ablation across all conditions. The small table highlights that reenactment attacks are harder to detect under recapture than face-swap attacks. Importantly, the frequency-only model with augmentation performs at least as well as the full F+B+T combination under unseen recapture — suggesting that under recapture conditions, boundary and temporal features may add noise rather than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permutation importance analysis shows that temporal features (optical-flow acceleration) are most discriminative, with boundary and frequency features as secondary contributors. However, all importances are small (&lt; 0.04 AUC drop when shuffled), so this ranking should be treated as indicative. The screen gate achieves AUC = 1.000 on the test set, but this is a self-consistency check: the gate was trained on the same simulator it is tested against. Real-world validation on genuine screen-recaptured footage is the critical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assessment of current limitations: the most critical is that recapture is entirely simulated. The near-perfect screen gate result is an artifact of testing against the same simulator used for training. The small dataset means we cannot assign statistical significance to AUC differences of a few hundredths. The EER/HTER results confirm that no model is operationally reliable under recapture yet. The five next steps directly address each limitation, with real-footage filming and the DeepMoireFake dataset as the most impactful near-term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749039"/>
          </a:xfrm>
          <a:prstGeom prst="rect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49039"/>
            <a:ext cx="12188952" cy="6400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Detecting Deepfakes Played to a Camera:</a:t>
            </a:r>
          </a:p>
          <a:p>
            <a:pPr algn="l">
              <a:spcBef>
                <a:spcPts val="600"/>
              </a:spcBef>
            </a:pPr>
            <a:r>
              <a:rPr sz="3400" b="1">
                <a:solidFill>
                  <a:srgbClr val="A8C9FF"/>
                </a:solidFill>
                <a:latin typeface="Calibri"/>
              </a:rPr>
              <a:t>An Image-Processing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10908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C8D8F0"/>
                </a:solidFill>
                <a:latin typeface="Calibri"/>
              </a:rPr>
              <a:t>Robust Face Liveness &amp; Deepfake Detection for Attendance Systems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A0B8E0"/>
                </a:solidFill>
                <a:latin typeface="Calibri"/>
              </a:rPr>
              <a:t>Progress Report · Weeks 1–2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6400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800" b="1">
                <a:solidFill>
                  <a:srgbClr val="12294A"/>
                </a:solidFill>
                <a:latin typeface="Calibri"/>
              </a:rPr>
              <a:t>Lalit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44576D"/>
                </a:solidFill>
                <a:latin typeface="Calibri"/>
              </a:rPr>
              <a:t>Image-Processing Track  ·  Face-Swap &amp; Reenactment Detection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44576D"/>
                </a:solidFill>
                <a:latin typeface="Calibri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488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Attendance Systems Are Vulnerable — Even to a Shown Deepfake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170432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3E8"/>
                </a:solidFill>
                <a:latin typeface="Calibri"/>
              </a:rPr>
              <a:t>PROBLEM &amp; THREAT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90472"/>
            <a:ext cx="563727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  <a:latin typeface="Calibri"/>
              </a:rPr>
              <a:t>• Attendance face-recognition can be spoofed by playing a deepfake on a phone or monitor in front of the camera.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  <a:latin typeface="Calibri"/>
              </a:rPr>
              <a:t>• Screen-to-camera recapture layers additional artifacts on top of the forgery: moiré patterns, banding, gamma shift, and re-compression.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  <a:latin typeface="Calibri"/>
              </a:rPr>
              <a:t>• Detectors trained on clean (digital) deepfakes may fail under this recapture degradation.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1636" y="1170432"/>
            <a:ext cx="56372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3E8"/>
                </a:solidFill>
                <a:latin typeface="Calibri"/>
              </a:rPr>
              <a:t>MY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1636" y="1490472"/>
            <a:ext cx="563727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  <a:latin typeface="Calibri"/>
              </a:rPr>
              <a:t>• Face-swap attacks: DeepFakes, FaceSwap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  <a:latin typeface="Calibri"/>
              </a:rPr>
              <a:t>• Reenactment attacks: Face2Face, NeuralTextures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  <a:latin typeface="Calibri"/>
              </a:rPr>
              <a:t>• Both under clean-file and screen-recapture conditions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C1C2E"/>
                </a:solidFill>
                <a:latin typeface="Calibri"/>
              </a:rPr>
              <a:t>• Out of scope (other teammates): rPPG liveness, virtual-camera injection, print/mask attacks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867912"/>
            <a:ext cx="11548872" cy="1371600"/>
          </a:xfrm>
          <a:prstGeom prst="rect">
            <a:avLst/>
          </a:prstGeom>
          <a:solidFill>
            <a:srgbClr val="E8F0FE"/>
          </a:solidFill>
          <a:ln w="190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9593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3E8"/>
                </a:solidFill>
                <a:latin typeface="Calibri"/>
              </a:rPr>
              <a:t>HYPOTHESIS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87952"/>
            <a:ext cx="11183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2294A"/>
                </a:solidFill>
                <a:latin typeface="Calibri"/>
              </a:rPr>
              <a:t>Deepfake detectors trained on clean (digital) files will show large AUC drops when tested on screen-recaptured versions of the same manipulations — because recapture overwrites the forgery cues detectors rely 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488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Week 1 Literature Review: Existing Detectors Miss the Recapture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07008"/>
            <a:ext cx="1965960" cy="384048"/>
          </a:xfrm>
          <a:prstGeom prst="rect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" y="1261872"/>
            <a:ext cx="1856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Paper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0280" y="1207008"/>
            <a:ext cx="5120640" cy="384048"/>
          </a:xfrm>
          <a:prstGeom prst="rect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95144" y="1261872"/>
            <a:ext cx="5010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Core Idea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0920" y="1207008"/>
            <a:ext cx="4114800" cy="384048"/>
          </a:xfrm>
          <a:prstGeom prst="rect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15784" y="1261872"/>
            <a:ext cx="40050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Why It Matters to My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91056"/>
            <a:ext cx="1965960" cy="530352"/>
          </a:xfrm>
          <a:prstGeom prst="rect">
            <a:avLst/>
          </a:prstGeom>
          <a:solidFill>
            <a:srgbClr val="F3F6FD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162763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C1C2E"/>
                </a:solidFill>
                <a:latin typeface="Calibri"/>
              </a:rPr>
              <a:t>FaceForensics++
(Rössler et al., 2019)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80" y="1591056"/>
            <a:ext cx="5120640" cy="530352"/>
          </a:xfrm>
          <a:prstGeom prst="rect">
            <a:avLst/>
          </a:prstGeom>
          <a:solidFill>
            <a:srgbClr val="F3F6FD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5144" y="1627632"/>
            <a:ext cx="5010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C1C2E"/>
                </a:solidFill>
                <a:latin typeface="Calibri"/>
              </a:rPr>
              <a:t>Large benchmark; includes DeepFakes, FaceSwap, Face2Face, NeuralTextures at multiple compression levels.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1591056"/>
            <a:ext cx="4114800" cy="530352"/>
          </a:xfrm>
          <a:prstGeom prst="rect">
            <a:avLst/>
          </a:prstGeom>
          <a:solidFill>
            <a:srgbClr val="F3F6FD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15784" y="1627632"/>
            <a:ext cx="4005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C1C2E"/>
                </a:solidFill>
                <a:latin typeface="Calibri"/>
              </a:rPr>
              <a:t>Defines my train/val/test split; covers all four attack types I evaluate.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121408"/>
            <a:ext cx="1965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2157984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C1C2E"/>
                </a:solidFill>
                <a:latin typeface="Calibri"/>
              </a:rPr>
              <a:t>Face X-Ray
(Li et al., 2020)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40280" y="2121408"/>
            <a:ext cx="5120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95144" y="2157984"/>
            <a:ext cx="5010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C1C2E"/>
                </a:solidFill>
                <a:latin typeface="Calibri"/>
              </a:rPr>
              <a:t>Detects blending boundaries at the face–background seam; generalises to unseen blending methods.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2121408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15784" y="2157984"/>
            <a:ext cx="4005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C1C2E"/>
                </a:solidFill>
                <a:latin typeface="Calibri"/>
              </a:rPr>
              <a:t>Motivates my boundary (B) feature group — blending-ring artefacts.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651760"/>
            <a:ext cx="1965960" cy="530352"/>
          </a:xfrm>
          <a:prstGeom prst="rect">
            <a:avLst/>
          </a:prstGeom>
          <a:solidFill>
            <a:srgbClr val="F3F6FD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" y="2688336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C1C2E"/>
                </a:solidFill>
                <a:latin typeface="Calibri"/>
              </a:rPr>
              <a:t>F3-Net
(Qian et al., 2020)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40280" y="2651760"/>
            <a:ext cx="5120640" cy="530352"/>
          </a:xfrm>
          <a:prstGeom prst="rect">
            <a:avLst/>
          </a:prstGeom>
          <a:solidFill>
            <a:srgbClr val="F3F6FD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95144" y="2688336"/>
            <a:ext cx="5010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C1C2E"/>
                </a:solidFill>
                <a:latin typeface="Calibri"/>
              </a:rPr>
              <a:t>Frequency-domain detector (DCT); more robust to JPEG compression than pixel-domain models.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20" y="2651760"/>
            <a:ext cx="4114800" cy="530352"/>
          </a:xfrm>
          <a:prstGeom prst="rect">
            <a:avLst/>
          </a:prstGeom>
          <a:solidFill>
            <a:srgbClr val="F3F6FD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15784" y="2688336"/>
            <a:ext cx="4005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C1C2E"/>
                </a:solidFill>
                <a:latin typeface="Calibri"/>
              </a:rPr>
              <a:t>Motivates my frequency (F) features; compression-robustness matters for recapture.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182112"/>
            <a:ext cx="1965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" y="3218688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C1C2E"/>
                </a:solidFill>
                <a:latin typeface="Calibri"/>
              </a:rPr>
              <a:t>LipForensics
(Haliassos et al., 2021)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40280" y="3182112"/>
            <a:ext cx="5120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95144" y="3218688"/>
            <a:ext cx="5010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C1C2E"/>
                </a:solidFill>
                <a:latin typeface="Calibri"/>
              </a:rPr>
              <a:t>Temporal mouth-motion cue; robust to video-level distortion for reenactment.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60920" y="3182112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15784" y="3218688"/>
            <a:ext cx="4005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C1C2E"/>
                </a:solidFill>
                <a:latin typeface="Calibri"/>
              </a:rPr>
              <a:t>Motivates my temporal optical-flow (T) features, especially for Face2Face/NeuralTextures.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712464"/>
            <a:ext cx="1965960" cy="530352"/>
          </a:xfrm>
          <a:prstGeom prst="rect">
            <a:avLst/>
          </a:prstGeom>
          <a:solidFill>
            <a:srgbClr val="F3F6FD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" y="3749040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C1C2E"/>
                </a:solidFill>
                <a:latin typeface="Calibri"/>
              </a:rPr>
              <a:t>Self-Blended Images
(Shiohara &amp; Yamasaki, 2022)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40280" y="3712464"/>
            <a:ext cx="5120640" cy="530352"/>
          </a:xfrm>
          <a:prstGeom prst="rect">
            <a:avLst/>
          </a:prstGeom>
          <a:solidFill>
            <a:srgbClr val="F3F6FD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95144" y="3749040"/>
            <a:ext cx="5010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C1C2E"/>
                </a:solidFill>
                <a:latin typeface="Calibri"/>
              </a:rPr>
              <a:t>Trains on synthetically blended faces to improve cross-dataset generalisation.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60920" y="3712464"/>
            <a:ext cx="4114800" cy="530352"/>
          </a:xfrm>
          <a:prstGeom prst="rect">
            <a:avLst/>
          </a:prstGeom>
          <a:solidFill>
            <a:srgbClr val="F3F6FD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15784" y="3749040"/>
            <a:ext cx="4005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C1C2E"/>
                </a:solidFill>
                <a:latin typeface="Calibri"/>
              </a:rPr>
              <a:t>Points to augmentation strategy I plan to extend with synthetic recapture artefacts.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242816"/>
            <a:ext cx="1965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9184" y="4279392"/>
            <a:ext cx="1856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C1C2E"/>
                </a:solidFill>
                <a:latin typeface="Calibri"/>
              </a:rPr>
              <a:t>DeepMoireFake /
"Through the Lens" (NeurIPS 2025)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40280" y="4242816"/>
            <a:ext cx="5120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95144" y="4279392"/>
            <a:ext cx="5010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C1C2E"/>
                </a:solidFill>
                <a:latin typeface="Calibri"/>
              </a:rPr>
              <a:t>First systematic benchmark of deepfake detectors under real screen recapture; reports large performance drops (AUC to ≈0.5).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60920" y="4242816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15784" y="4279392"/>
            <a:ext cx="4005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C1C2E"/>
                </a:solidFill>
                <a:latin typeface="Calibri"/>
              </a:rPr>
              <a:t>Directly validates my hypothesis; my simulator replicates these conditions at Colab scale.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4882896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294A"/>
                </a:solidFill>
                <a:latin typeface="Calibri"/>
              </a:rPr>
              <a:t>Gap: No existing detector is designed to handle forgery cues AND recapture cues together — that is the gap I test.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488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Week 2: Pipeline Built and Dataset Prepared at Colab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207008"/>
            <a:ext cx="1325880" cy="914400"/>
          </a:xfrm>
          <a:prstGeom prst="rect">
            <a:avLst/>
          </a:prstGeom>
          <a:solidFill>
            <a:srgbClr val="E8F0FE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1252728"/>
            <a:ext cx="12527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2294A"/>
                </a:solidFill>
                <a:latin typeface="Calibri"/>
              </a:rPr>
              <a:t>FF++ c23
(Kaggle)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207008"/>
            <a:ext cx="1325880" cy="914400"/>
          </a:xfrm>
          <a:prstGeom prst="rect">
            <a:avLst/>
          </a:prstGeom>
          <a:solidFill>
            <a:srgbClr val="E8F0FE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36776" y="1252728"/>
            <a:ext cx="12527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2294A"/>
                </a:solidFill>
                <a:latin typeface="Calibri"/>
              </a:rPr>
              <a:t>Face-Cropped
Clips
(8 frames,
224px, 2/video)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07008"/>
            <a:ext cx="1325880" cy="914400"/>
          </a:xfrm>
          <a:prstGeom prst="rect">
            <a:avLst/>
          </a:prstGeom>
          <a:solidFill>
            <a:srgbClr val="E8F0FE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36976" y="1252728"/>
            <a:ext cx="12527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2294A"/>
                </a:solidFill>
                <a:latin typeface="Calibri"/>
              </a:rPr>
              <a:t>Screen-Replay
Simulator
(moiré, blur,
gamma, JPEG)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1207008"/>
            <a:ext cx="1325880" cy="914400"/>
          </a:xfrm>
          <a:prstGeom prst="rect">
            <a:avLst/>
          </a:prstGeom>
          <a:solidFill>
            <a:srgbClr val="E8F0FE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11496" y="1252728"/>
            <a:ext cx="12527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2294A"/>
                </a:solidFill>
                <a:latin typeface="Calibri"/>
              </a:rPr>
              <a:t>Hand-Crafted
Features
(Freq·FFT/DCT,
Bound·rings,
Temp·opt-flow)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1207008"/>
            <a:ext cx="1325880" cy="914400"/>
          </a:xfrm>
          <a:prstGeom prst="rect">
            <a:avLst/>
          </a:prstGeom>
          <a:solidFill>
            <a:srgbClr val="E8F0FE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77456" y="1252728"/>
            <a:ext cx="12527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2294A"/>
                </a:solidFill>
                <a:latin typeface="Calibri"/>
              </a:rPr>
              <a:t>Models
(HGB trees;
EffNet-B0
CNN)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1207008"/>
            <a:ext cx="1325880" cy="914400"/>
          </a:xfrm>
          <a:prstGeom prst="rect">
            <a:avLst/>
          </a:prstGeom>
          <a:solidFill>
            <a:srgbClr val="E8F0FE"/>
          </a:solidFill>
          <a:ln w="1524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14816" y="1252728"/>
            <a:ext cx="12527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2294A"/>
                </a:solidFill>
                <a:latin typeface="Calibri"/>
              </a:rPr>
              <a:t>Evaluation
(AUC, EER,
HTER)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149961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73E8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149961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73E8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49961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73E8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49961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73E8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49961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73E8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4120" y="149961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73E8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377440"/>
            <a:ext cx="1554480" cy="310896"/>
          </a:xfrm>
          <a:prstGeom prst="rect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" y="2423160"/>
            <a:ext cx="1481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Method / Split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37360" y="2377440"/>
            <a:ext cx="1234440" cy="310896"/>
          </a:xfrm>
          <a:prstGeom prst="rect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73936" y="2423160"/>
            <a:ext cx="11612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Train clips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71800" y="2377440"/>
            <a:ext cx="1234440" cy="310896"/>
          </a:xfrm>
          <a:prstGeom prst="rect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08376" y="2423160"/>
            <a:ext cx="11612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Val clips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2377440"/>
            <a:ext cx="1234440" cy="310896"/>
          </a:xfrm>
          <a:prstGeom prst="rect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42816" y="2423160"/>
            <a:ext cx="11612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Test clips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2688336"/>
            <a:ext cx="1554480" cy="310896"/>
          </a:xfrm>
          <a:prstGeom prst="rect">
            <a:avLst/>
          </a:prstGeom>
          <a:solidFill>
            <a:srgbClr val="F3F6FD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" y="274320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C2E"/>
                </a:solidFill>
                <a:latin typeface="Calibri"/>
              </a:rPr>
              <a:t>Real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37360" y="2688336"/>
            <a:ext cx="1234440" cy="310896"/>
          </a:xfrm>
          <a:prstGeom prst="rect">
            <a:avLst/>
          </a:prstGeom>
          <a:solidFill>
            <a:srgbClr val="F3F6FD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83080" y="2743200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240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71800" y="2688336"/>
            <a:ext cx="1234440" cy="310896"/>
          </a:xfrm>
          <a:prstGeom prst="rect">
            <a:avLst/>
          </a:prstGeom>
          <a:solidFill>
            <a:srgbClr val="F3F6FD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2743200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60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2688336"/>
            <a:ext cx="1234440" cy="310896"/>
          </a:xfrm>
          <a:prstGeom prst="rect">
            <a:avLst/>
          </a:prstGeom>
          <a:solidFill>
            <a:srgbClr val="F3F6FD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51960" y="2743200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120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" y="2999232"/>
            <a:ext cx="1554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8600" y="305409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C2E"/>
                </a:solidFill>
                <a:latin typeface="Calibri"/>
              </a:rPr>
              <a:t>Deepfakes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37360" y="2999232"/>
            <a:ext cx="12344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83080" y="3054096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240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71800" y="2999232"/>
            <a:ext cx="12344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17520" y="3054096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60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2999232"/>
            <a:ext cx="12344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51960" y="3054096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120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3310128"/>
            <a:ext cx="1554480" cy="310896"/>
          </a:xfrm>
          <a:prstGeom prst="rect">
            <a:avLst/>
          </a:prstGeom>
          <a:solidFill>
            <a:srgbClr val="F3F6FD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600" y="336499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C2E"/>
                </a:solidFill>
                <a:latin typeface="Calibri"/>
              </a:rPr>
              <a:t>FaceSwap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37360" y="3310128"/>
            <a:ext cx="1234440" cy="310896"/>
          </a:xfrm>
          <a:prstGeom prst="rect">
            <a:avLst/>
          </a:prstGeom>
          <a:solidFill>
            <a:srgbClr val="F3F6FD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83080" y="3364992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240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71800" y="3310128"/>
            <a:ext cx="1234440" cy="310896"/>
          </a:xfrm>
          <a:prstGeom prst="rect">
            <a:avLst/>
          </a:prstGeom>
          <a:solidFill>
            <a:srgbClr val="F3F6FD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17520" y="3364992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60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06240" y="3310128"/>
            <a:ext cx="1234440" cy="310896"/>
          </a:xfrm>
          <a:prstGeom prst="rect">
            <a:avLst/>
          </a:prstGeom>
          <a:solidFill>
            <a:srgbClr val="F3F6FD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51960" y="3364992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120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3621024"/>
            <a:ext cx="1554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8600" y="367588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C2E"/>
                </a:solidFill>
                <a:latin typeface="Calibri"/>
              </a:rPr>
              <a:t>Face2Face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37360" y="3621024"/>
            <a:ext cx="12344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783080" y="3675888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240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71800" y="3621024"/>
            <a:ext cx="12344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17520" y="3675888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60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06240" y="3621024"/>
            <a:ext cx="12344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51960" y="3675888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120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931920"/>
            <a:ext cx="1554480" cy="310896"/>
          </a:xfrm>
          <a:prstGeom prst="rect">
            <a:avLst/>
          </a:prstGeom>
          <a:solidFill>
            <a:srgbClr val="F3F6FD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8600" y="3986784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C2E"/>
                </a:solidFill>
                <a:latin typeface="Calibri"/>
              </a:rPr>
              <a:t>NeuralTextures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737360" y="3931920"/>
            <a:ext cx="1234440" cy="310896"/>
          </a:xfrm>
          <a:prstGeom prst="rect">
            <a:avLst/>
          </a:prstGeom>
          <a:solidFill>
            <a:srgbClr val="F3F6FD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783080" y="3986784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240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971800" y="3931920"/>
            <a:ext cx="1234440" cy="310896"/>
          </a:xfrm>
          <a:prstGeom prst="rect">
            <a:avLst/>
          </a:prstGeom>
          <a:solidFill>
            <a:srgbClr val="F3F6FD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17520" y="3986784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60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06240" y="3931920"/>
            <a:ext cx="1234440" cy="310896"/>
          </a:xfrm>
          <a:prstGeom prst="rect">
            <a:avLst/>
          </a:prstGeom>
          <a:solidFill>
            <a:srgbClr val="F3F6FD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51960" y="3986784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120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82880" y="4242816"/>
            <a:ext cx="1554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8600" y="429768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C1C2E"/>
                </a:solidFill>
                <a:latin typeface="Calibri"/>
              </a:rPr>
              <a:t>FaceShifter†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737360" y="4242816"/>
            <a:ext cx="12344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83080" y="4297680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971800" y="4242816"/>
            <a:ext cx="12344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017520" y="4297680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4242816"/>
            <a:ext cx="12344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51960" y="4297680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120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2880" y="460857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576D"/>
                </a:solidFill>
                <a:latin typeface="Calibri"/>
              </a:rPr>
              <a:t>† FaceShifter: test-only; never trained on — used as unseen-manipulation generalization probe.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69280" y="2377440"/>
            <a:ext cx="63367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576D"/>
                </a:solidFill>
                <a:latin typeface="Calibri"/>
              </a:rPr>
              <a:t>Subset scale: 60 / 15 / 30 video pairs per split (train / val / test), chosen for Colab feasibility. Each video yields 2 clips of 8 consecutive frames at 224 px.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488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Screen Replay Adds Distinctive Artifacts That Overpower Forgery Cues</a:t>
            </a:r>
          </a:p>
        </p:txBody>
      </p:sp>
      <p:pic>
        <p:nvPicPr>
          <p:cNvPr id="5" name="Picture 4" descr="fig1_recapture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70432"/>
            <a:ext cx="6492240" cy="2236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3443224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576D"/>
                </a:solidFill>
                <a:latin typeface="Calibri"/>
              </a:rPr>
              <a:t>Fig. 1 — Clean vs. simulated screen-recaptured faces</a:t>
            </a:r>
          </a:p>
        </p:txBody>
      </p:sp>
      <p:pic>
        <p:nvPicPr>
          <p:cNvPr id="7" name="Picture 6" descr="fig2_spect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170432"/>
            <a:ext cx="512064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03720" y="376732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576D"/>
                </a:solidFill>
                <a:latin typeface="Calibri"/>
              </a:rPr>
              <a:t>Fig. 2 — Frequency spectra (clean vs. recaptured)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4059936"/>
            <a:ext cx="5120640" cy="266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1C1C2E"/>
                </a:solidFill>
                <a:latin typeface="Calibri"/>
              </a:rPr>
              <a:t>① Recaptured faces show visible moiré grid overlay.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C1C2E"/>
                </a:solidFill>
                <a:latin typeface="Calibri"/>
              </a:rPr>
              <a:t>② Their spectra gain bright periodic peaks absent in clean frames.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C1C2E"/>
                </a:solidFill>
                <a:latin typeface="Calibri"/>
              </a:rPr>
              <a:t>③ Azimuthal spectrum: recaptured curves sit above clean at high frequencies (≈ bin 16+), overwriting forgery cues.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1C1C2E"/>
                </a:solidFill>
                <a:latin typeface="Calibri"/>
              </a:rPr>
              <a:t>Two recapture profiles: seen (train-like settings) and unseen (different screens / cameras / compression) — used to test generalisation.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488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Main Result: All Models Collapse Under Recapture; Augmentation Partially Recovers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28600" y="1143000"/>
          <a:ext cx="7498079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50017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63333"/>
                </a:solidFill>
                <a:latin typeface="Calibri"/>
              </a:rPr>
              <a:t>─ ─ AUC = 0.5 (chance level) ─ 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59" y="1188720"/>
            <a:ext cx="4142233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C1C2E"/>
                </a:solidFill>
                <a:latin typeface="Calibri"/>
              </a:rPr>
              <a:t>① Every model drops from AUC 0.76–0.84 (clean) to ≈0.48–0.52 (recaptured) — near chance. This supports the hypothesis.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C1C2E"/>
                </a:solidFill>
                <a:latin typeface="Calibri"/>
              </a:rPr>
              <a:t>② Recapture augmentation partially recovers: HGB 0.506 → 0.573 on unseen recapture. CNN gains almost nothing there (0.524 → 0.525).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C1C2E"/>
                </a:solidFill>
                <a:latin typeface="Calibri"/>
              </a:rPr>
              <a:t>③ On seen recapture, CNN-Aug (0.575) edges HGB-Aug (0.538). On unseen recapture, the classical model generalises better.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C1C2E"/>
                </a:solidFill>
                <a:latin typeface="Calibri"/>
              </a:rPr>
              <a:t>④ Two-stage pipeline AUC (0.569) is comparable to HGB-Aug (0.573) — differences are within noise at this sample size. Not calling it 'best'.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488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Reenactment Attacks and Frequency Features Are Most Fragile Under Recapture</a:t>
            </a:r>
          </a:p>
        </p:txBody>
      </p:sp>
      <p:pic>
        <p:nvPicPr>
          <p:cNvPr id="5" name="Picture 4" descr="fig4_feature_group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70432"/>
            <a:ext cx="6766560" cy="18044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3011424"/>
            <a:ext cx="6766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576D"/>
                </a:solidFill>
                <a:latin typeface="Calibri"/>
              </a:rPr>
              <a:t>Fig. 4 — Feature-group ablation (HGB, ALL-seen methods)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1170432"/>
            <a:ext cx="4828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3E8"/>
                </a:solidFill>
                <a:latin typeface="Calibri"/>
              </a:rPr>
              <a:t>AUC — Two-Stage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178040" y="1481328"/>
            <a:ext cx="1920240" cy="292608"/>
          </a:xfrm>
          <a:prstGeom prst="rect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14616" y="1527048"/>
            <a:ext cx="184708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Attack Group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98280" y="1481328"/>
            <a:ext cx="868680" cy="292608"/>
          </a:xfrm>
          <a:prstGeom prst="rect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34856" y="1527048"/>
            <a:ext cx="795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Clean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0" y="1481328"/>
            <a:ext cx="868680" cy="292608"/>
          </a:xfrm>
          <a:prstGeom prst="rect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3536" y="1527048"/>
            <a:ext cx="795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Unseen RC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1773936"/>
            <a:ext cx="1920240" cy="292608"/>
          </a:xfrm>
          <a:prstGeom prst="rect">
            <a:avLst/>
          </a:prstGeom>
          <a:solidFill>
            <a:srgbClr val="F3F6FD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81965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E"/>
                </a:solidFill>
                <a:latin typeface="Calibri"/>
              </a:rPr>
              <a:t>FaceSwap-group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773936"/>
            <a:ext cx="868680" cy="292608"/>
          </a:xfrm>
          <a:prstGeom prst="rect">
            <a:avLst/>
          </a:prstGeom>
          <a:solidFill>
            <a:srgbClr val="F3F6FD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81965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0.826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66960" y="1773936"/>
            <a:ext cx="868680" cy="292608"/>
          </a:xfrm>
          <a:prstGeom prst="rect">
            <a:avLst/>
          </a:prstGeom>
          <a:solidFill>
            <a:srgbClr val="F3F6FD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12680" y="1819656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0.601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2066544"/>
            <a:ext cx="19202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211226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E"/>
                </a:solidFill>
                <a:latin typeface="Calibri"/>
              </a:rPr>
              <a:t>Reenact-group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2066544"/>
            <a:ext cx="8686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21122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0.705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2066544"/>
            <a:ext cx="8686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12680" y="2112264"/>
            <a:ext cx="777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0.536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542032"/>
            <a:ext cx="4828032" cy="417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100">
                <a:solidFill>
                  <a:srgbClr val="1C1C2E"/>
                </a:solidFill>
                <a:latin typeface="Calibri"/>
              </a:rPr>
              <a:t>• Reenactment is weaker than face-swap under recapture (0.536 vs 0.601), but part of that gap already exists on clean video (0.705 vs 0.826).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1C1C2E"/>
                </a:solidFill>
                <a:latin typeface="Calibri"/>
              </a:rPr>
              <a:t>• CNN is better on reenactment under clean conditions (0.865 AUC).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1C1C2E"/>
                </a:solidFill>
                <a:latin typeface="Calibri"/>
              </a:rPr>
              <a:t>• Adding more feature groups helps on clean video (F+B+T = 0.765), but under unseen recapture, frequency-only with augmentation (F-aug 0.588) matches or beats the full combination (F+B+T-aug 0.573).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1C1C2E"/>
                </a:solidFill>
                <a:latin typeface="Calibri"/>
              </a:rPr>
              <a:t>• 'More features' does not clearly help once recapture is involved.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488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Top Features Are Temporal; The Screen Gate Is Perfect on Simulator Data</a:t>
            </a:r>
          </a:p>
        </p:txBody>
      </p:sp>
      <p:pic>
        <p:nvPicPr>
          <p:cNvPr id="5" name="Picture 4" descr="fig6_top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70432"/>
            <a:ext cx="640080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" y="5230368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576D"/>
                </a:solidFill>
                <a:latin typeface="Calibri"/>
              </a:rPr>
              <a:t>Fig. 6 — Permutation importance of top features (HGB model)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170432"/>
            <a:ext cx="51480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3E8"/>
                </a:solidFill>
                <a:latin typeface="Calibri"/>
              </a:rPr>
              <a:t>KEY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481328"/>
            <a:ext cx="514807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>
                <a:solidFill>
                  <a:srgbClr val="1C1C2E"/>
                </a:solidFill>
                <a:latin typeface="Calibri"/>
              </a:rPr>
              <a:t>t_acc_ratio  (0.039) — Temporal: centre-vs-ring optical-flow acceleration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1C1C2E"/>
                </a:solidFill>
                <a:latin typeface="Calibri"/>
              </a:rPr>
              <a:t>b_lp05         (0.020) — Boundary: low-pass blending-ring energy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1C1C2E"/>
                </a:solidFill>
                <a:latin typeface="Calibri"/>
              </a:rPr>
              <a:t>f_rad05         (0.015) — Frequency: radial spectrum at bin 5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1C1C2E"/>
                </a:solidFill>
                <a:latin typeface="Calibri"/>
              </a:rPr>
              <a:t>t_acc_c         (0.014) — Temporal: centre acceleration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1C1C2E"/>
                </a:solidFill>
                <a:latin typeface="Calibri"/>
              </a:rPr>
              <a:t>t_diff_r_sd  (0.010) — Temporal: ring-region flow std deviation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273552"/>
            <a:ext cx="51480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76D"/>
                </a:solidFill>
                <a:latin typeface="Calibri"/>
              </a:rPr>
              <a:t>Temporal cues rank highest; boundary and frequency contribute. Individual importances are small (&lt;0.04) — treat as indicative, not definitive.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4005072"/>
            <a:ext cx="5148072" cy="1828800"/>
          </a:xfrm>
          <a:prstGeom prst="rect">
            <a:avLst/>
          </a:prstGeom>
          <a:solidFill>
            <a:srgbClr val="FDF6E3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4078224"/>
            <a:ext cx="4965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6000"/>
                </a:solidFill>
                <a:latin typeface="Calibri"/>
              </a:rPr>
              <a:t>⚑  SCREEN GATE (Stage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4389120"/>
            <a:ext cx="496519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050">
                <a:solidFill>
                  <a:srgbClr val="1C1C2E"/>
                </a:solidFill>
                <a:latin typeface="Calibri"/>
              </a:rPr>
              <a:t>• Flags 100% of recaptured clips as 'screen' (rate = 1.0, AUC = 1.000).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1C1C2E"/>
                </a:solidFill>
                <a:latin typeface="Calibri"/>
              </a:rPr>
              <a:t>• Flags 0% of clean clips (perfect specificity on test set).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1C1C2E"/>
                </a:solidFill>
                <a:latin typeface="Calibri"/>
              </a:rPr>
              <a:t>⚠  This reflects how separable the simulator's own artifacts are — not real-world recapture. Needs validation on real footage.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2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4887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Limitations Are Real; Next Steps Address Each One Directly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56829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63333"/>
                </a:solidFill>
                <a:latin typeface="Calibri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81328"/>
            <a:ext cx="568299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C1C2E"/>
                </a:solidFill>
                <a:latin typeface="Calibri"/>
              </a:rPr>
              <a:t>(a) Recapture is simulated. No real screen-recapture footage tested yet; the gap between simulator and real LCD/camera variation is unknown.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C1C2E"/>
                </a:solidFill>
                <a:latin typeface="Calibri"/>
              </a:rPr>
              <a:t>(b) Small subset (60/15/30 video pairs). No confidence intervals — AUC differences of ~0.02–0.05 should not be over-interpreted.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C1C2E"/>
                </a:solidFill>
                <a:latin typeface="Calibri"/>
              </a:rPr>
              <a:t>(c) EER / HTER remain 0.43–0.52 under recapture across all models. A fixed-threshold detector is close to unreliable in practice.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C1C2E"/>
                </a:solidFill>
                <a:latin typeface="Calibri"/>
              </a:rPr>
              <a:t>(d) FaceShifter (unseen manipulation): AUC 0.66 (clean) for both classical and CNN models, dropping to ~0.50–0.56 under recapture. Generalisation to novel attacks is limited.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40196" y="1188720"/>
            <a:ext cx="56829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3E8"/>
                </a:solidFill>
                <a:latin typeface="Calibri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40196" y="1481328"/>
            <a:ext cx="568299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200">
                <a:solidFill>
                  <a:srgbClr val="1C1C2E"/>
                </a:solidFill>
                <a:latin typeface="Calibri"/>
              </a:rPr>
              <a:t>→ Film real screen-recaptures to validate the simulator (notebook Stage 9).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C1C2E"/>
                </a:solidFill>
                <a:latin typeface="Calibri"/>
              </a:rPr>
              <a:t>→ Request / evaluate on the DeepMoireFake dataset (request pending).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C1C2E"/>
                </a:solidFill>
                <a:latin typeface="Calibri"/>
              </a:rPr>
              <a:t>→ Extend Self-Blended-Images-style training with synthetic recapture artifacts.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C1C2E"/>
                </a:solidFill>
                <a:latin typeface="Calibri"/>
              </a:rPr>
              <a:t>→ Larger subset + bootstrapped confidence intervals.</a:t>
            </a:r>
          </a:p>
          <a:p>
            <a:pPr algn="l">
              <a:spcBef>
                <a:spcPts val="600"/>
              </a:spcBef>
            </a:pPr>
            <a:r>
              <a:rPr sz="1200">
                <a:solidFill>
                  <a:srgbClr val="1C1C2E"/>
                </a:solidFill>
                <a:latin typeface="Calibri"/>
              </a:rPr>
              <a:t>→ Integrate spatial / frequency / temporal branch with teammates' rPPG branch.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800600"/>
            <a:ext cx="11640312" cy="12700"/>
          </a:xfrm>
          <a:prstGeom prst="rect">
            <a:avLst/>
          </a:prstGeom>
          <a:solidFill>
            <a:srgbClr val="CC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892040"/>
            <a:ext cx="116403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2294A"/>
                </a:solidFill>
                <a:latin typeface="Calibri"/>
              </a:rPr>
              <a:t>Core finding: recapture causes AUC to collapse to near-chance; augmentation helps classically but not for CNN on unseen recapture. Temporal cues are most robust. Real-world validation is the immediate priority.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